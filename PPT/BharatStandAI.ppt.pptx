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E2F7-BDC6-4AA8-AFBF-2BA1DD0E997E}">
          <p14:sldIdLst>
            <p14:sldId id="291"/>
            <p14:sldId id="281"/>
          </p14:sldIdLst>
        </p14:section>
        <p14:section name="Untitled Section" id="{E1E5BA35-AD70-4BF8-9293-A4D5B09148D0}">
          <p14:sldIdLst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34AC04"/>
    <a:srgbClr val="00B050"/>
    <a:srgbClr val="56867C"/>
    <a:srgbClr val="FDFDFD"/>
    <a:srgbClr val="F1F8F6"/>
    <a:srgbClr val="68AD03"/>
    <a:srgbClr val="9BBB59"/>
    <a:srgbClr val="727272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10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hyperlink" Target="https://github.com/kartikbhargava514-cmd/bharat-standards-ai.gi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hyperlink" Target="https://doe.gov.in/files/circulars_document/Manual_Goods_2024.pdf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s://standards.bis.gov.in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bis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901786" y="1782443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8952" y="-526757"/>
            <a:ext cx="9935534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9049" y="732673"/>
            <a:ext cx="6496251" cy="609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AI-Powered Recommendation Engine for Identifying Applicable Indian Standards for Procurement Specifications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ID- 173137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Pro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501"/>
            <a:ext cx="1971536" cy="9309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2D7209-4946-84D4-C360-E3E248622480}"/>
              </a:ext>
            </a:extLst>
          </p:cNvPr>
          <p:cNvSpPr txBox="1"/>
          <p:nvPr/>
        </p:nvSpPr>
        <p:spPr>
          <a:xfrm>
            <a:off x="4411262" y="782109"/>
            <a:ext cx="2782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BharatStandAI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232" y="1501"/>
            <a:ext cx="2172704" cy="1025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E02729-CA08-8197-3B19-400CC716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01" t="17111" r="15953" b="22976"/>
          <a:stretch>
            <a:fillRect/>
          </a:stretch>
        </p:blipFill>
        <p:spPr>
          <a:xfrm>
            <a:off x="118623" y="101620"/>
            <a:ext cx="622041" cy="592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510456-37FD-BA10-42C7-4D75F306B9C3}"/>
              </a:ext>
            </a:extLst>
          </p:cNvPr>
          <p:cNvSpPr txBox="1"/>
          <p:nvPr/>
        </p:nvSpPr>
        <p:spPr>
          <a:xfrm>
            <a:off x="3654551" y="136522"/>
            <a:ext cx="4882896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28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</a:t>
            </a:r>
            <a:r>
              <a:rPr lang="en-US" sz="2800" b="1" dirty="0">
                <a:solidFill>
                  <a:srgbClr val="39B0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</a:p>
          <a:p>
            <a:pPr algn="r"/>
            <a:r>
              <a:rPr lang="en-US" sz="12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Procurement Specifications to the Right Indian Standards</a:t>
            </a:r>
            <a:endParaRPr lang="en-IN" sz="12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52C85-5ABE-BE48-8728-1DCED656C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101620"/>
            <a:ext cx="943799" cy="7622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11065B-234C-262C-E6CB-95F8BB0027D1}"/>
              </a:ext>
            </a:extLst>
          </p:cNvPr>
          <p:cNvSpPr txBox="1"/>
          <p:nvPr/>
        </p:nvSpPr>
        <p:spPr>
          <a:xfrm>
            <a:off x="358140" y="965723"/>
            <a:ext cx="1147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Powered Recommendation Engine For Recommending Indian Standards According To The Procurement Specifications</a:t>
            </a:r>
            <a:endParaRPr lang="en-IN" sz="14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B42E63-784B-B984-5B53-CE9141A96F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6633"/>
          <a:stretch>
            <a:fillRect/>
          </a:stretch>
        </p:blipFill>
        <p:spPr>
          <a:xfrm>
            <a:off x="9144" y="1308095"/>
            <a:ext cx="4113314" cy="50120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6AD77D-6C53-D132-712D-894714C05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433" y="1299385"/>
            <a:ext cx="3566160" cy="50207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50FB35-1B5A-BF7D-2CF7-45787BBB7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68" y="1299385"/>
            <a:ext cx="4164088" cy="50207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13757"/>
            <a:ext cx="7808975" cy="67562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TECHNICAL APPROACH</a:t>
            </a:r>
            <a:br>
              <a:rPr lang="en-US" sz="32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From Tender to Trusted Standards- Powered by AI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932" y="1501"/>
            <a:ext cx="2044003" cy="9651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61640DF-1B07-A182-5E4B-F1E5207B64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01" t="17111" r="15953" b="22976"/>
          <a:stretch>
            <a:fillRect/>
          </a:stretch>
        </p:blipFill>
        <p:spPr>
          <a:xfrm>
            <a:off x="118623" y="101620"/>
            <a:ext cx="622041" cy="592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B5CCE1-D709-717F-224D-8B8DAE4C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66319"/>
            <a:ext cx="12192000" cy="3932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82B7F1-3D79-9359-3FE3-16C854161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969" y="5144207"/>
            <a:ext cx="9550059" cy="1165217"/>
          </a:xfrm>
          <a:prstGeom prst="rect">
            <a:avLst/>
          </a:prstGeom>
        </p:spPr>
      </p:pic>
      <p:pic>
        <p:nvPicPr>
          <p:cNvPr id="9" name="Graphic 8" descr="Bar graph with upward trend with solid fill">
            <a:extLst>
              <a:ext uri="{FF2B5EF4-FFF2-40B4-BE49-F238E27FC236}">
                <a16:creationId xmlns:a16="http://schemas.microsoft.com/office/drawing/2014/main" id="{A8057475-EC10-80EB-C988-1BA11D578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7102" y="651219"/>
            <a:ext cx="388566" cy="388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07161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289" y="33624"/>
            <a:ext cx="1930647" cy="9116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966655-39DA-DE85-4B0D-76C80808EB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01" t="17111" r="15953" b="22976"/>
          <a:stretch>
            <a:fillRect/>
          </a:stretch>
        </p:blipFill>
        <p:spPr>
          <a:xfrm>
            <a:off x="118623" y="101620"/>
            <a:ext cx="622041" cy="592129"/>
          </a:xfrm>
          <a:prstGeom prst="rect">
            <a:avLst/>
          </a:prstGeom>
        </p:spPr>
      </p:pic>
      <p:pic>
        <p:nvPicPr>
          <p:cNvPr id="3" name="Graphic 2" descr="Bar chart with solid fill">
            <a:extLst>
              <a:ext uri="{FF2B5EF4-FFF2-40B4-BE49-F238E27FC236}">
                <a16:creationId xmlns:a16="http://schemas.microsoft.com/office/drawing/2014/main" id="{C2E57C0D-8150-148A-21FE-3539B4FE9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440" y="154335"/>
            <a:ext cx="457200" cy="503239"/>
          </a:xfrm>
          <a:prstGeom prst="rect">
            <a:avLst/>
          </a:prstGeom>
        </p:spPr>
      </p:pic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28879679-EA28-8898-369F-ECD2ADCC0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0" y="1026488"/>
            <a:ext cx="11997177" cy="5127479"/>
          </a:xfrm>
          <a:prstGeom prst="rect">
            <a:avLst/>
          </a:prstGeom>
        </p:spPr>
      </p:pic>
      <p:pic>
        <p:nvPicPr>
          <p:cNvPr id="5" name="Picture 4" descr="A magnifying glass and a document&#10;&#10;AI-generated content may be incorrect.">
            <a:extLst>
              <a:ext uri="{FF2B5EF4-FFF2-40B4-BE49-F238E27FC236}">
                <a16:creationId xmlns:a16="http://schemas.microsoft.com/office/drawing/2014/main" id="{4E952E95-BFBF-583B-32E5-56DA33729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542" y="2840996"/>
            <a:ext cx="879474" cy="6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29643" y="-115758"/>
            <a:ext cx="10972800" cy="809507"/>
          </a:xfrm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IMPACT AND BENEFITS</a:t>
            </a:r>
            <a:b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</a:br>
            <a:endParaRPr lang="en-US" sz="3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A4617-2DC6-1DA7-6AEF-8E700DF3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01" t="17111" r="15953" b="22976"/>
          <a:stretch>
            <a:fillRect/>
          </a:stretch>
        </p:blipFill>
        <p:spPr>
          <a:xfrm>
            <a:off x="118623" y="101620"/>
            <a:ext cx="622041" cy="592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C1E160-71A6-E0CD-E064-48A36CF688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3" t="15512" r="1330" b="9329"/>
          <a:stretch>
            <a:fillRect/>
          </a:stretch>
        </p:blipFill>
        <p:spPr>
          <a:xfrm>
            <a:off x="0" y="911127"/>
            <a:ext cx="12115800" cy="54436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040" y="1500"/>
            <a:ext cx="2152895" cy="10165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A685F3-AF1E-10F8-F945-9268321072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01" t="17111" r="15953" b="22976"/>
          <a:stretch>
            <a:fillRect/>
          </a:stretch>
        </p:blipFill>
        <p:spPr>
          <a:xfrm>
            <a:off x="118623" y="101620"/>
            <a:ext cx="622041" cy="59212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3463C9-66BC-6746-1903-D0BAD6F62064}"/>
              </a:ext>
            </a:extLst>
          </p:cNvPr>
          <p:cNvCxnSpPr/>
          <p:nvPr/>
        </p:nvCxnSpPr>
        <p:spPr>
          <a:xfrm>
            <a:off x="5846064" y="1095375"/>
            <a:ext cx="0" cy="51114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73B095D-2CAD-8B92-0967-88E7059548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81" t="8398" r="6765"/>
          <a:stretch>
            <a:fillRect/>
          </a:stretch>
        </p:blipFill>
        <p:spPr>
          <a:xfrm>
            <a:off x="0" y="1329666"/>
            <a:ext cx="2890520" cy="1881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6F89FC-8604-53C2-5A7E-1E28771FDF8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754" t="7070" r="2819"/>
          <a:stretch>
            <a:fillRect/>
          </a:stretch>
        </p:blipFill>
        <p:spPr>
          <a:xfrm>
            <a:off x="3242735" y="1179700"/>
            <a:ext cx="2454649" cy="21041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8D8980-2AE1-4AD5-CC8B-2CDA3F5F2D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733" t="30702" r="13022" b="5555"/>
          <a:stretch>
            <a:fillRect/>
          </a:stretch>
        </p:blipFill>
        <p:spPr>
          <a:xfrm>
            <a:off x="3643126" y="3570363"/>
            <a:ext cx="2010148" cy="27104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368D8D9-B2B8-1558-C1EA-AB68B98183A9}"/>
              </a:ext>
            </a:extLst>
          </p:cNvPr>
          <p:cNvSpPr txBox="1"/>
          <p:nvPr/>
        </p:nvSpPr>
        <p:spPr>
          <a:xfrm>
            <a:off x="0" y="978865"/>
            <a:ext cx="2890519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VIEW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3A5FA-6CBA-6E0C-18F5-41E0B8A5566F}"/>
              </a:ext>
            </a:extLst>
          </p:cNvPr>
          <p:cNvSpPr txBox="1"/>
          <p:nvPr/>
        </p:nvSpPr>
        <p:spPr>
          <a:xfrm>
            <a:off x="3242736" y="978865"/>
            <a:ext cx="2454649" cy="2616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PROCUREMENT  SPECIFICATION</a:t>
            </a:r>
            <a:endParaRPr lang="en-IN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C4B67C-B0A4-AAAE-7A15-C8687E368887}"/>
              </a:ext>
            </a:extLst>
          </p:cNvPr>
          <p:cNvSpPr txBox="1"/>
          <p:nvPr/>
        </p:nvSpPr>
        <p:spPr>
          <a:xfrm>
            <a:off x="0" y="3695997"/>
            <a:ext cx="3344646" cy="3077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STANDARDS INFORMATION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9BFF4A-9298-AFCA-81B1-609C1DFB6C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4003774"/>
            <a:ext cx="3344646" cy="195622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1BD2F89-2A63-104D-5EE4-B17DD76937F5}"/>
              </a:ext>
            </a:extLst>
          </p:cNvPr>
          <p:cNvSpPr txBox="1"/>
          <p:nvPr/>
        </p:nvSpPr>
        <p:spPr>
          <a:xfrm>
            <a:off x="3643127" y="3555402"/>
            <a:ext cx="2010147" cy="24622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SUITABLE FOR ANY DEVICE</a:t>
            </a:r>
            <a:endParaRPr 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28EB03-83E1-49B7-04C3-E75DC3714BCE}"/>
              </a:ext>
            </a:extLst>
          </p:cNvPr>
          <p:cNvSpPr txBox="1"/>
          <p:nvPr/>
        </p:nvSpPr>
        <p:spPr>
          <a:xfrm>
            <a:off x="6095999" y="1103240"/>
            <a:ext cx="5933935" cy="2369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Research and Reference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Bureau of Indian Standards — Know Your Standards 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https://www.bis.gov.in/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BIS Standards Catalogue 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https://standards.bis.gov.in/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Department of Expenditure — Manual for procurement of goods 2024 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https://doe.gov.in/files/circulars_document/Manual_Goods_2024.pdf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2A0824-1A7D-F1E2-EA85-79A6849777D6}"/>
              </a:ext>
            </a:extLst>
          </p:cNvPr>
          <p:cNvSpPr txBox="1"/>
          <p:nvPr/>
        </p:nvSpPr>
        <p:spPr>
          <a:xfrm>
            <a:off x="6095999" y="3849885"/>
            <a:ext cx="5933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Prototype Development and Other Links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Prototype link =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Demonstration Video Link(YouTube)=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GitHub link=</a:t>
            </a:r>
            <a:r>
              <a:rPr lang="en-US" sz="1200" dirty="0">
                <a:hlinkClick r:id="rId12"/>
              </a:rPr>
              <a:t>https://github.com/kartikbhargava514-cmd/bharat-standards-ai.git/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Research Report &amp; Version Information=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9103</TotalTime>
  <Words>231</Words>
  <Application>Microsoft Office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TECHNICAL APPROACH From Tender to Trusted Standards- Powered by AI</vt:lpstr>
      <vt:lpstr>FEASIBILITY AND VIABILITY</vt:lpstr>
      <vt:lpstr>IMPACT AND BENEFITS 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kartik bhargava</cp:lastModifiedBy>
  <cp:revision>159</cp:revision>
  <dcterms:created xsi:type="dcterms:W3CDTF">2013-12-12T18:46:50Z</dcterms:created>
  <dcterms:modified xsi:type="dcterms:W3CDTF">2026-09-27T13:40:25Z</dcterms:modified>
  <cp:category/>
</cp:coreProperties>
</file>